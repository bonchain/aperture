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57400"/>
            <a:ext cx="110550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300" kern="0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85216" y="320040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disclosure layer for confidential payments on Sui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5216" y="37033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from the public. Provable to whoever you choose.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" y="4343400"/>
            <a:ext cx="3840480" cy="0"/>
          </a:xfrm>
          <a:prstGeom prst="line">
            <a:avLst/>
          </a:prstGeom>
          <a:noFill/>
          <a:ln w="12700">
            <a:solidFill>
              <a:srgbClr val="2C38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452628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Overflow 2026   ·   DeFi &amp; Payments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200" b="1" spc="200" kern="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1055096" cy="0"/>
          </a:xfrm>
          <a:prstGeom prst="line">
            <a:avLst/>
          </a:prstGeom>
          <a:noFill/>
          <a:ln w="12700">
            <a:solidFill>
              <a:srgbClr val="1E27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144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transfers hide the amounts — and blind every tool built to check them.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shipped confidential transfers (June 2026): balances &amp; amounts are encrypted on-chain. Great for privacy — but it breaks the compliance stack that assumed amounts were readable.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788920"/>
            <a:ext cx="3441192" cy="3246120"/>
          </a:xfrm>
          <a:prstGeom prst="roundRect">
            <a:avLst>
              <a:gd name="adj" fmla="val 1690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898648"/>
            <a:ext cx="45720" cy="302666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3075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tools go dark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" y="3374136"/>
            <a:ext cx="30571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Chainalysis / TRM-style analytics read amounts off-chain. Encrypt the amount and they see nothing.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3880" y="2788920"/>
            <a:ext cx="3441192" cy="3246120"/>
          </a:xfrm>
          <a:prstGeom prst="roundRect">
            <a:avLst>
              <a:gd name="adj" fmla="val 1690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3880" y="2898648"/>
            <a:ext cx="45720" cy="302666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2" name="Text 10"/>
          <p:cNvSpPr/>
          <p:nvPr/>
        </p:nvSpPr>
        <p:spPr>
          <a:xfrm>
            <a:off x="4593336" y="2935224"/>
            <a:ext cx="3075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shipped auditor model is god-key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3336" y="3374136"/>
            <a:ext cx="30571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per-account auditor decrypts everything a user sees. TRM Labs warns single-key disclosure means “issuer breach = all users exposed.”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0832" y="2788920"/>
            <a:ext cx="3441192" cy="3246120"/>
          </a:xfrm>
          <a:prstGeom prst="roundRect">
            <a:avLst>
              <a:gd name="adj" fmla="val 1690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0832" y="2898648"/>
            <a:ext cx="45720" cy="302666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6" name="Text 14"/>
          <p:cNvSpPr/>
          <p:nvPr/>
        </p:nvSpPr>
        <p:spPr>
          <a:xfrm>
            <a:off x="8400288" y="2935224"/>
            <a:ext cx="3075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Issuers can’t prove compliance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00288" y="3374136"/>
            <a:ext cx="30571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/ stablecoin / payroll on-chain need selective disclosure — not all-or-nothing visibility.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6419088"/>
            <a:ext cx="10597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confidential transfers, blog.sui.io (Jun 2026) · TRM Labs, On-chain Privacy &amp; Financial Compliance (Feb 2026)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11712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1055096" cy="0"/>
          </a:xfrm>
          <a:prstGeom prst="line">
            <a:avLst/>
          </a:prstGeom>
          <a:noFill/>
          <a:ln w="12700">
            <a:solidFill>
              <a:srgbClr val="1E27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144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weeks-old primitive, and the compliance layer is wide open.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5096" cy="914400"/>
          </a:xfrm>
          <a:prstGeom prst="roundRect">
            <a:avLst>
              <a:gd name="adj" fmla="val 5000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75688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8 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10128" y="2130552"/>
            <a:ext cx="0" cy="585216"/>
          </a:xfrm>
          <a:prstGeom prst="line">
            <a:avLst/>
          </a:prstGeom>
          <a:noFill/>
          <a:ln w="12700">
            <a:solidFill>
              <a:srgbClr val="2C38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2075688"/>
            <a:ext cx="77632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confidential transfers → public beta on Devnet; testnet “later this year.”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990088"/>
            <a:ext cx="11055096" cy="914400"/>
          </a:xfrm>
          <a:prstGeom prst="roundRect">
            <a:avLst>
              <a:gd name="adj" fmla="val 5000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099816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10128" y="3154680"/>
            <a:ext cx="0" cy="585216"/>
          </a:xfrm>
          <a:prstGeom prst="line">
            <a:avLst/>
          </a:prstGeom>
          <a:noFill/>
          <a:ln w="12700">
            <a:solidFill>
              <a:srgbClr val="2C38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3099816"/>
            <a:ext cx="77632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TRM Labs &amp; Merkle Science are still only exploring how to audit it — none have shipped.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014216"/>
            <a:ext cx="11055096" cy="914400"/>
          </a:xfrm>
          <a:prstGeom prst="roundRect">
            <a:avLst>
              <a:gd name="adj" fmla="val 5000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123944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2026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10128" y="4178808"/>
            <a:ext cx="0" cy="585216"/>
          </a:xfrm>
          <a:prstGeom prst="line">
            <a:avLst/>
          </a:prstGeom>
          <a:noFill/>
          <a:ln w="12700">
            <a:solidFill>
              <a:srgbClr val="2C38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4123944"/>
            <a:ext cx="77632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Testnet, then mainnet — real money is not live yet.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038344"/>
            <a:ext cx="11055096" cy="914400"/>
          </a:xfrm>
          <a:prstGeom prst="roundRect">
            <a:avLst>
              <a:gd name="adj" fmla="val 5000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5148072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10128" y="5202936"/>
            <a:ext cx="0" cy="585216"/>
          </a:xfrm>
          <a:prstGeom prst="line">
            <a:avLst/>
          </a:prstGeom>
          <a:noFill/>
          <a:ln w="12700">
            <a:solidFill>
              <a:srgbClr val="2C38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28" y="5148072"/>
            <a:ext cx="77632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credible compliance app on this primitive owns the relationship with Mysten.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0597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blog.sui.io/confidential-transfers-public-beta (Jun 2026) · crypto.news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11712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TAILWIND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1055096" cy="0"/>
          </a:xfrm>
          <a:prstGeom prst="line">
            <a:avLst/>
          </a:prstGeom>
          <a:noFill/>
          <a:ln w="12700">
            <a:solidFill>
              <a:srgbClr val="1E27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144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 is already moving toward selective disclosure — exactly what Aperture is built on.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2112264"/>
            <a:ext cx="82296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057400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Travel Rule is live.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Reg 2023/1113 — identity data on every crypto transfer, zero threshold, in force since Dec 2024. Confidential transfers blind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953512"/>
            <a:ext cx="82296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898648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2027 clock is ticking.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AMLR (Reg 2024/1624) pulls all CASPs into AML scope and bans anonymous accounts at regulated institutions — compliance is legally non-optional for issuers. (Self-custody untouched.)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794760"/>
            <a:ext cx="82296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739896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anonymity — auditability.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research (Bank of Italy) finds privacy payments moving to “auditability and selective disclosure.”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636008"/>
            <a:ext cx="82296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581144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the incumbents agree.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TRM Labs: “the question is no longer privacy versus compliance” — they endorse selective disclosure over anonymity.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532120"/>
            <a:ext cx="11055096" cy="566928"/>
          </a:xfrm>
          <a:prstGeom prst="roundRect">
            <a:avLst>
              <a:gd name="adj" fmla="val 8065"/>
            </a:avLst>
          </a:prstGeom>
          <a:solidFill>
            <a:srgbClr val="1B2433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532120"/>
            <a:ext cx="10597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 is built on that exact line: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from the public, provable to whoever you choose.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6419088"/>
            <a:ext cx="10597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Reg 2023/1113 (Travel Rule) · EU Reg 2024/1624 (AMLR, 2027) · Bank of Italy / ACM DLT survey 2026 · TRM Labs whitepaper, Feb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11712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1055096" cy="0"/>
          </a:xfrm>
          <a:prstGeom prst="line">
            <a:avLst/>
          </a:prstGeom>
          <a:noFill/>
          <a:ln w="12700">
            <a:solidFill>
              <a:srgbClr val="1E27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144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Aperture: the compliance layer every confidential token plugs into.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payments app — an audit &amp; disclosure layer that sits beside any confidential token on Sui. Two sides of one product: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743200"/>
            <a:ext cx="5298948" cy="3246120"/>
          </a:xfrm>
          <a:prstGeom prst="roundRect">
            <a:avLst>
              <a:gd name="adj" fmla="val 1690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852928"/>
            <a:ext cx="45720" cy="30266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889504"/>
            <a:ext cx="49331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A · Auditor Console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" y="3328416"/>
            <a:ext cx="49149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issuers &amp; operators.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Designated auditor decrypts the org’s flows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Dashboards, reports, CSV/JSON export for accountants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Audit-trail-of-audit: who viewed what, when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3076" y="2743200"/>
            <a:ext cx="5298948" cy="3246120"/>
          </a:xfrm>
          <a:prstGeom prst="roundRect">
            <a:avLst>
              <a:gd name="adj" fmla="val 1690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3076" y="2852928"/>
            <a:ext cx="45720" cy="30266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6542532" y="2889504"/>
            <a:ext cx="49331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B · Proof-of-Figure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42532" y="3328416"/>
            <a:ext cx="49149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holders &amp; end users.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Prove a number — payroll total, income, tax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…without handing over the key or other rows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Scoped, user-controlled — the model markets trust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11712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1055096" cy="0"/>
          </a:xfrm>
          <a:prstGeom prst="line">
            <a:avLst/>
          </a:prstGeom>
          <a:noFill/>
          <a:ln w="12700">
            <a:solidFill>
              <a:srgbClr val="1E27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144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what Sui’s confidential transfers already give us.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947672"/>
            <a:ext cx="11055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A — read with permission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2612898" cy="868680"/>
          </a:xfrm>
          <a:prstGeom prst="roundRect">
            <a:avLst>
              <a:gd name="adj" fmla="val 5263"/>
            </a:avLst>
          </a:prstGeom>
          <a:solidFill>
            <a:srgbClr val="070A12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331720"/>
            <a:ext cx="239344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 key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(designated)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61538" y="2331720"/>
            <a:ext cx="237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0994" y="2331720"/>
            <a:ext cx="2612898" cy="868680"/>
          </a:xfrm>
          <a:prstGeom prst="roundRect">
            <a:avLst>
              <a:gd name="adj" fmla="val 5263"/>
            </a:avLst>
          </a:prstGeom>
          <a:solidFill>
            <a:srgbClr val="070A12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0722" y="2331720"/>
            <a:ext cx="239344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recoverPrivateKey()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75604" y="2331720"/>
            <a:ext cx="237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5060" y="2331720"/>
            <a:ext cx="2612898" cy="868680"/>
          </a:xfrm>
          <a:prstGeom prst="roundRect">
            <a:avLst>
              <a:gd name="adj" fmla="val 5263"/>
            </a:avLst>
          </a:prstGeom>
          <a:solidFill>
            <a:srgbClr val="070A12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4788" y="2331720"/>
            <a:ext cx="239344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decrypt org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balances &amp; flows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89670" y="2331720"/>
            <a:ext cx="237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09126" y="2331720"/>
            <a:ext cx="2612898" cy="868680"/>
          </a:xfrm>
          <a:prstGeom prst="roundRect">
            <a:avLst>
              <a:gd name="adj" fmla="val 5263"/>
            </a:avLst>
          </a:prstGeom>
          <a:solidFill>
            <a:srgbClr val="070A12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18854" y="2331720"/>
            <a:ext cx="239344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+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502152"/>
            <a:ext cx="11055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B — prove without revealing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886200"/>
            <a:ext cx="2612898" cy="868680"/>
          </a:xfrm>
          <a:prstGeom prst="roundRect">
            <a:avLst>
              <a:gd name="adj" fmla="val 5263"/>
            </a:avLst>
          </a:prstGeom>
          <a:solidFill>
            <a:srgbClr val="070A12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3886200"/>
            <a:ext cx="239344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encrypted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61538" y="3886200"/>
            <a:ext cx="237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0994" y="3886200"/>
            <a:ext cx="2612898" cy="868680"/>
          </a:xfrm>
          <a:prstGeom prst="roundRect">
            <a:avLst>
              <a:gd name="adj" fmla="val 5263"/>
            </a:avLst>
          </a:prstGeom>
          <a:solidFill>
            <a:srgbClr val="070A12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0722" y="3886200"/>
            <a:ext cx="239344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Ciphertext.add()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(homomorphic sum)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75604" y="3886200"/>
            <a:ext cx="237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95060" y="3886200"/>
            <a:ext cx="2612898" cy="868680"/>
          </a:xfrm>
          <a:prstGeom prst="roundRect">
            <a:avLst>
              <a:gd name="adj" fmla="val 5263"/>
            </a:avLst>
          </a:prstGeom>
          <a:solidFill>
            <a:srgbClr val="070A12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4788" y="3886200"/>
            <a:ext cx="239344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ElGamalNizk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proof: sum = 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89670" y="3886200"/>
            <a:ext cx="237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09126" y="3886200"/>
            <a:ext cx="2612898" cy="868680"/>
          </a:xfrm>
          <a:prstGeom prst="roundRect">
            <a:avLst>
              <a:gd name="adj" fmla="val 5263"/>
            </a:avLst>
          </a:prstGeom>
          <a:solidFill>
            <a:srgbClr val="070A12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18854" y="3886200"/>
            <a:ext cx="239344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verify_elgamal()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on-chain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5074920"/>
            <a:ext cx="11055096" cy="960120"/>
          </a:xfrm>
          <a:prstGeom prst="roundRect">
            <a:avLst>
              <a:gd name="adj" fmla="val 4762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5074920"/>
            <a:ext cx="10597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A is free from the primitive.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B is the hard part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homomorphic addition lets us prove a selected sum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recursive ZK circuits Aztec’s PrivPNL needs.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That’s our edge.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0597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 homomorphic Mode B is lighter-weight than recursive-ZK approaches (Aztec) — our design bet, not a verified benchmark.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11712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1055096" cy="0"/>
          </a:xfrm>
          <a:prstGeom prst="line">
            <a:avLst/>
          </a:prstGeom>
          <a:noFill/>
          <a:ln w="12700">
            <a:solidFill>
              <a:srgbClr val="1E27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144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hard to copy.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44668" cy="2148840"/>
          </a:xfrm>
          <a:prstGeom prst="roundRect">
            <a:avLst>
              <a:gd name="adj" fmla="val 2553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01368"/>
            <a:ext cx="45720" cy="192938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37944"/>
            <a:ext cx="49789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B is the moat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276856"/>
            <a:ext cx="49606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A clones in a week (it’s free). The scoped proof layer is real crypto work — and we’ve mapped it to the primitive.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7356" y="1691640"/>
            <a:ext cx="5344668" cy="2148840"/>
          </a:xfrm>
          <a:prstGeom prst="roundRect">
            <a:avLst>
              <a:gd name="adj" fmla="val 2553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7356" y="1801368"/>
            <a:ext cx="45720" cy="192938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496812" y="1837944"/>
            <a:ext cx="49789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on a new primitive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6812" y="2276856"/>
            <a:ext cx="49606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primitive is weeks old. Being the first working compliance app earns the Mysten relationship others can’t backfill.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114800"/>
            <a:ext cx="5344668" cy="2148840"/>
          </a:xfrm>
          <a:prstGeom prst="roundRect">
            <a:avLst>
              <a:gd name="adj" fmla="val 2553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4224528"/>
            <a:ext cx="45720" cy="192938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261104"/>
            <a:ext cx="49789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side of regulation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86384" y="4700016"/>
            <a:ext cx="49606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disclosure, not anonymity — and TRM Labs (a would-be competitor) endorses the same model. We follow Aztec’s direction, not the god-key.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7356" y="4114800"/>
            <a:ext cx="5344668" cy="2148840"/>
          </a:xfrm>
          <a:prstGeom prst="roundRect">
            <a:avLst>
              <a:gd name="adj" fmla="val 2553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7356" y="4224528"/>
            <a:ext cx="45720" cy="192938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6496812" y="4261104"/>
            <a:ext cx="49789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Lighter than the alternatives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96812" y="4700016"/>
            <a:ext cx="49606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Aztec’s PrivPNL needs recursive ZK; Aleo leans on broad view-keys (AVK reveals everything). Our selected-sum, no-god-key path sits where the market should be.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0597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TRM Labs (Feb 2026) · Aztec PrivPNL (aztec.network) · Aleo view keys (aleo.org) — competitor designs verified; relative superiority is our positioning.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11712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1055096" cy="0"/>
          </a:xfrm>
          <a:prstGeom prst="line">
            <a:avLst/>
          </a:prstGeom>
          <a:noFill/>
          <a:ln w="12700">
            <a:solidFill>
              <a:srgbClr val="1E27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144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Issuers pay for compliance infra. Users get Mode B free.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441192" cy="1691640"/>
          </a:xfrm>
          <a:prstGeom prst="roundRect">
            <a:avLst>
              <a:gd name="adj" fmla="val 3243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55648"/>
            <a:ext cx="45720" cy="1472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792224"/>
            <a:ext cx="3075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issuer / operator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231136"/>
            <a:ext cx="30571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— compliance infra is legally non-optional. No way around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3880" y="1645920"/>
            <a:ext cx="3441192" cy="1691640"/>
          </a:xfrm>
          <a:prstGeom prst="roundRect">
            <a:avLst>
              <a:gd name="adj" fmla="val 3243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3880" y="1755648"/>
            <a:ext cx="45720" cy="14721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93336" y="1792224"/>
            <a:ext cx="3075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user / holder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93336" y="2231136"/>
            <a:ext cx="30571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— gets Mode B as a built-in feature from the issuer.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0832" y="1645920"/>
            <a:ext cx="3441192" cy="1691640"/>
          </a:xfrm>
          <a:prstGeom prst="roundRect">
            <a:avLst>
              <a:gd name="adj" fmla="val 3243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0832" y="1755648"/>
            <a:ext cx="45720" cy="1472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8400288" y="1792224"/>
            <a:ext cx="3075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00288" y="2231136"/>
            <a:ext cx="30571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— orders disclosure; doesn’t buy software.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6576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 </a:t>
            </a:r>
            <a:pPr indent="0" marL="0"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Open-core SDK  ·  Hosted console subscription per issuer  ·  Per-proof usage (Mode B scales with use)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11055096" cy="960120"/>
          </a:xfrm>
          <a:prstGeom prst="roundRect">
            <a:avLst>
              <a:gd name="adj" fmla="val 4762"/>
            </a:avLst>
          </a:prstGeom>
          <a:solidFill>
            <a:srgbClr val="1B2433"/>
          </a:solidFill>
          <a:ln w="12700">
            <a:solidFill>
              <a:srgbClr val="2C38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160520"/>
            <a:ext cx="10597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 (our customers)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$250B → $500B by 2028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(JPMorgan, conservative).  Compliance is a multi-billion category —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Chainalysis $8.6B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valuation; RegTech ~$20B.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30352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on timing: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devnet-only until late 2026 — near-term is grants + design partners + positioning, not ARR. We buy the category lead now, monetize at mainnet.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0597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JPMorgan via CoinDesk (Jul 2025) · Chainalysis $8.6B/2022 (research.contrary.com) · RegTech ~$19–24B est., multiple firms [secondary/estimate]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11712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MARKET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1055096" cy="0"/>
          </a:xfrm>
          <a:prstGeom prst="line">
            <a:avLst/>
          </a:prstGeom>
          <a:noFill/>
          <a:ln w="12700">
            <a:solidFill>
              <a:srgbClr val="1E27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144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Mysten’s pipeline to become the default layer.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441192" cy="338328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938528"/>
            <a:ext cx="45720" cy="316382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975104"/>
            <a:ext cx="3075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· Stage 0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414016"/>
            <a:ext cx="30571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recognition as Sui’s confidential-compliance team. Mysten invited compliance builders; TRM / Merkle haven’t shipped.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3880" y="1828800"/>
            <a:ext cx="3441192" cy="338328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3880" y="1938528"/>
            <a:ext cx="45720" cy="31638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93336" y="1975104"/>
            <a:ext cx="3075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· Stage 1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partner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93336" y="2414016"/>
            <a:ext cx="30571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issuer on the same devnet (Mysten is already exploring confidential flows with Bridge). “X uses it” beats “someone might.”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0832" y="1828800"/>
            <a:ext cx="3441192" cy="3383280"/>
          </a:xfrm>
          <a:prstGeom prst="roundRect">
            <a:avLst>
              <a:gd name="adj" fmla="val 1622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0832" y="1938528"/>
            <a:ext cx="45720" cy="316382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8400288" y="1975104"/>
            <a:ext cx="3075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· Stage 2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default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00288" y="2414016"/>
            <a:ext cx="30571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audit/disclosure layer confidential tokens reach for. More issuers → auditors learn our format → it sets the standard.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0597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Mysten–Bridge collaboration: exploratory (blog.sui.io, Jun 2026) — not a closed partnership.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11712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1055096" cy="0"/>
          </a:xfrm>
          <a:prstGeom prst="line">
            <a:avLst/>
          </a:prstGeom>
          <a:noFill/>
          <a:ln w="12700">
            <a:solidFill>
              <a:srgbClr val="1E27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144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ship this exact thing.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44668" cy="2148840"/>
          </a:xfrm>
          <a:prstGeom prst="roundRect">
            <a:avLst>
              <a:gd name="adj" fmla="val 2553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01368"/>
            <a:ext cx="45720" cy="19293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37944"/>
            <a:ext cx="49789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on Sui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276856"/>
            <a:ext cx="49606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place, Sui Overflow 2025 (PactDa — escrow + zkLogin). We ship on this stack.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7356" y="1691640"/>
            <a:ext cx="5344668" cy="2148840"/>
          </a:xfrm>
          <a:prstGeom prst="roundRect">
            <a:avLst>
              <a:gd name="adj" fmla="val 2553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7356" y="1801368"/>
            <a:ext cx="45720" cy="19293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496812" y="1837944"/>
            <a:ext cx="49789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primitive knowledge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6812" y="2276856"/>
            <a:ext cx="49606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mapped the full SDK, auditor model, and the Mode B crypto path from the source.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114800"/>
            <a:ext cx="5344668" cy="2148840"/>
          </a:xfrm>
          <a:prstGeom prst="roundRect">
            <a:avLst>
              <a:gd name="adj" fmla="val 2553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4224528"/>
            <a:ext cx="45720" cy="19293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261104"/>
            <a:ext cx="49789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compliance domain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86384" y="4700016"/>
            <a:ext cx="49606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 / hospital / enterprise delivery + PDPA fluency from live client work — credibility crypto-native teams can’t fake.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7356" y="4114800"/>
            <a:ext cx="5344668" cy="2148840"/>
          </a:xfrm>
          <a:prstGeom prst="roundRect">
            <a:avLst>
              <a:gd name="adj" fmla="val 2553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7356" y="4224528"/>
            <a:ext cx="45720" cy="19293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6812" y="4261104"/>
            <a:ext cx="49789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Two-person team + AI velocity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96812" y="4700016"/>
            <a:ext cx="49606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build, fast iteration — scope held to a demo that actually runs, not a feature list.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11712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1055096" cy="0"/>
          </a:xfrm>
          <a:prstGeom prst="line">
            <a:avLst/>
          </a:prstGeom>
          <a:noFill/>
          <a:ln w="12700">
            <a:solidFill>
              <a:srgbClr val="1E27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1440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ship, and what we need.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441192" cy="1554480"/>
          </a:xfrm>
          <a:prstGeom prst="roundRect">
            <a:avLst>
              <a:gd name="adj" fmla="val 3529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55648"/>
            <a:ext cx="45720" cy="133502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792224"/>
            <a:ext cx="3075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Devnet PoC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231136"/>
            <a:ext cx="3057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demo: Mode A console + Mode B proof-of-figure that verifies on-chain.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3880" y="1645920"/>
            <a:ext cx="3441192" cy="1554480"/>
          </a:xfrm>
          <a:prstGeom prst="roundRect">
            <a:avLst>
              <a:gd name="adj" fmla="val 3529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3880" y="1755648"/>
            <a:ext cx="45720" cy="13350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93336" y="1792224"/>
            <a:ext cx="3075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— Testnet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93336" y="2231136"/>
            <a:ext cx="3057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the proof layer; land first design-partner issuer; Travel-Rule disclosure flow.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0832" y="1645920"/>
            <a:ext cx="3441192" cy="1554480"/>
          </a:xfrm>
          <a:prstGeom prst="roundRect">
            <a:avLst>
              <a:gd name="adj" fmla="val 3529"/>
            </a:avLst>
          </a:prstGeom>
          <a:solidFill>
            <a:srgbClr val="131926"/>
          </a:solidFill>
          <a:ln w="12700">
            <a:solidFill>
              <a:srgbClr val="1E27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0832" y="1755648"/>
            <a:ext cx="45720" cy="133502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8400288" y="1792224"/>
            <a:ext cx="3075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— Mainnet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00288" y="2231136"/>
            <a:ext cx="3057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Open-core launch; become the default audit/disclosure layer for confidential tokens on Sui.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34290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895344"/>
            <a:ext cx="82296" cy="822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840480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place in Hydropower or Direct Strategic Investment —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Sui’s equity-free accelerator / core-infra investment track.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462272"/>
            <a:ext cx="82296" cy="822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407408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intro to one confidential-token issuer on Sui —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stablecoin issuer already exploring confidential flows.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029200"/>
            <a:ext cx="82296" cy="822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4974336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6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Mysten’s eyes on the disclosure model —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compliance layer is designed with the primitive, not bolted on after.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715000"/>
            <a:ext cx="3840480" cy="0"/>
          </a:xfrm>
          <a:prstGeom prst="line">
            <a:avLst/>
          </a:prstGeom>
          <a:noFill/>
          <a:ln w="12700">
            <a:solidFill>
              <a:srgbClr val="2C38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585216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from the public, provable to whoever you choose.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10597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Foundation Programs &amp; Funding: Hydropower (equity-free) · RFP · Direct Strategic Investment — sui.io/programs-funding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11712" y="6419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Aperture — Pitch</dc:title>
  <dc:subject>PptxGenJS Presentation</dc:subject>
  <dc:creator>Aperture</dc:creator>
  <cp:lastModifiedBy>Aperture</cp:lastModifiedBy>
  <cp:revision>1</cp:revision>
  <dcterms:created xsi:type="dcterms:W3CDTF">2026-06-20T16:55:24Z</dcterms:created>
  <dcterms:modified xsi:type="dcterms:W3CDTF">2026-06-20T16:55:24Z</dcterms:modified>
</cp:coreProperties>
</file>